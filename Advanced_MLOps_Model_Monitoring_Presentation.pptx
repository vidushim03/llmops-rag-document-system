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137160" cy="2560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9202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ADVANCED MLOPS PRESENTATION</a:t>
            </a:r>
          </a:p>
          <a:p>
            <a:pPr>
              <a:spcAft>
                <a:spcPts val="1500"/>
              </a:spcAft>
              <a:defRPr sz="3600" b="1">
                <a:solidFill>
                  <a:srgbClr val="F1F5F9"/>
                </a:solidFill>
              </a:defRPr>
            </a:pPr>
            <a:r>
              <a:t>Automated Model Monitoring in Production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Detecting Data Drift, Concept Drift, and Performance Decay in Machine Learning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Presented for Advanced MLOps &amp; Production AI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INTRODUCTION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Executive Summary: Why Model Monitoring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The Silent Failure Problem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Unlike traditional software that throws errors when broken, machine learning models can fail silently. Code compiles and APIs return 200 OK, but predictions become completely inaccurate due to changing real-world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Why Models Decay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Real-world environments are non-stationary. Consumer preferences shift, economic conditions change, and underlying data distributions evolve. A model trained yesterday may make bad predictions tomorrow.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Core Objectives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1. Early detection of data &amp; concept drift</a:t>
            </a:r>
            <a:br/>
            <a:r>
              <a:t>2. Real-time tracking of business metrics</a:t>
            </a:r>
            <a:br/>
            <a:r>
              <a:t>3. Automated alerts &amp; triggers</a:t>
            </a:r>
            <a:br/>
            <a:r>
              <a:t>4. Maintaining stakeholder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CONCEPTUAL FRAMEWORK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Core Concept: Data Drift vs. Concept Drift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1. Data Drift (Covariate Shift)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Changes in the distribution of input features $P(X)$ over time. For example, user demographics shift younger, but the relationship between features and target remains the same.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2. Concept Drift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Changes in the statistical relationship between input features and the target variable $P(Y|X)$. For example, economic downturn alters consumer purchasing behavior for the same income level.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3. Prediction Drift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Changes in the distribution of model outputs $P(\hat{Y})$. If a fraud detection model suddenly predicts 50% fraud instead of the historical 2%, a shift has occurred.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4. Performance Degradation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Actual drop in metrics like Accuracy, F1-Score, or RMSE when ground truth labels become available for production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SYSTEM ARCHITECTURE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Architecture &amp; Monitoring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2563EB"/>
                </a:solidFill>
              </a:defRPr>
            </a:pPr>
            <a:r>
              <a:t>Data Logging &amp; Capture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Inference requests and model responses are logged asynchronously (via Kafka, Fluentd, or API middleware) to storage (S3/BigQuery) without impacting API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2563EB"/>
                </a:solidFill>
              </a:defRPr>
            </a:pPr>
            <a:r>
              <a:t>Statistical Drift Calculation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Scheduled or streaming jobs compare production feature distributions against reference datasets using statistical tests (PSI, KS-Test, Chi-Square).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2563EB"/>
                </a:solidFill>
              </a:defRPr>
            </a:pPr>
            <a:r>
              <a:t>Alerting &amp; Notification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When drift scores or latency exceed defined thresholds, automated webhooks trigger alerts via PagerDuty, Slack, or Email to ML engineers.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2563EB"/>
                </a:solidFill>
              </a:defRPr>
            </a:pPr>
            <a:r>
              <a:t>Automated Retraining Trigger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Critical drift triggers downstream MLOps pipelines (Airflow/Kubeflow) to fetch fresh data, retrain models, evaluate, and deploy via CI/CD.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TOOLS &amp; ECOSYSTEM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The Model Monitoring Toolchain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Open-Source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64592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Evidently AI, Great Expectations, Deepchecks, Alibi Detect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Enterprise Observability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60604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Arize AI, Fiddler, Arthur AI, WhyLabs, Evidently Cloud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Metrics &amp; Dashboards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56616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Prometheus, Grafana, Datadog for system health &amp; latency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Logging &amp; Data Pipelines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52628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Apache Kafka, Fluentbit, AWS CloudWatch, Snowflake, BigQuery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Orchestration &amp; Retraining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548640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Apache Airflow, Kubeflow Pipelines, MLflow, Prefect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USE CASES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Real-World Applications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Financial Fraud Detection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Detecting sudden shifts in criminal behavior or changes in legitimate user spending habits to prevent billions in fraudulent transactions.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Credit Risk &amp; Lending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Monitoring macroeconomic shifts (interest rates, inflation) that invalidate credit scoring models and cause unexpected loan defaults.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E-Commerce Recommendation Engines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Tracking shifting user clicks and seasonal trends to ensure product recommendations remain relevant and maximize conversion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Predictive Maintenance (IoT)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Monitoring machinery sensor drift and wear patterns in manufacturing plants to prevent catastrophic equipment failures before they happen.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RISK MANAGEMENT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Challenges in Model Monitoring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C2626"/>
                </a:solidFill>
              </a:defRPr>
            </a:pPr>
            <a:r>
              <a:t>The Ground Truth Delay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Monitoring machinery sensor drift and wear patterns in manufacturing plants to prevent catastrophic equipment failures before they happen.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C2626"/>
                </a:solidFill>
              </a:defRPr>
            </a:pPr>
            <a:r>
              <a:t>Alert Fatigue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Monitoring machinery sensor drift and wear patterns in manufacturing plants to prevent catastrophic equipment failures before they happen.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C2626"/>
                </a:solidFill>
              </a:defRPr>
            </a:pPr>
            <a:r>
              <a:t>High Cardinality &amp; Scale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Monitoring machinery sensor drift and wear patterns in manufacturing plants to prevent catastrophic equipment failures before they happen.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C2626"/>
                </a:solidFill>
              </a:defRPr>
            </a:pPr>
            <a:r>
              <a:t>Attribution Complexity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Monitoring machinery sensor drift and wear patterns in manufacturing plants to prevent catastrophic equipment failures before they happen.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t>CONCLUSION &amp; FUTURE OUTLOOK</a:t>
            </a:r>
          </a:p>
          <a:p>
            <a:pPr>
              <a:spcAft>
                <a:spcPts val="2000"/>
              </a:spcAft>
              <a:defRPr sz="3200" b="1">
                <a:solidFill>
                  <a:srgbClr val="F1F5F9"/>
                </a:solidFill>
              </a:defRPr>
            </a:pPr>
            <a:r>
              <a:t>From Passive Deployments to Active Observability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</a:defRPr>
            </a:pPr>
            <a:r>
              <a:t>• Continuous Vigilance: Model monitoring bridges the gap between static training and dynamic real-world environments.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</a:defRPr>
            </a:pPr>
            <a:r>
              <a:t>• Proactive MLOps: Moving away from reactive firefighting toward automated detection and self-healing retraining loops.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</a:defRPr>
            </a:pPr>
            <a:r>
              <a:t>• The Future: AI-native observability integrating explainable AI (XAI) and automated root-cause analysis for enterprise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