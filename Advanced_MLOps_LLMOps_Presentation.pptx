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2011680"/>
            <a:ext cx="137160" cy="256032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192024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0EA5E9"/>
                </a:solidFill>
              </a:defRPr>
            </a:pPr>
            <a:r>
              <a:t>ADVANCED MLOPS PRESENTATION</a:t>
            </a:r>
          </a:p>
          <a:p>
            <a:pPr>
              <a:spcAft>
                <a:spcPts val="1500"/>
              </a:spcAft>
              <a:defRPr sz="3600" b="1">
                <a:solidFill>
                  <a:srgbClr val="F1F5F9"/>
                </a:solidFill>
              </a:defRPr>
            </a:pPr>
            <a:r>
              <a:t>LLMOps: Operationalizing Large Language Models at Scale</a:t>
            </a:r>
          </a:p>
          <a:p>
            <a:pPr>
              <a:defRPr sz="1600">
                <a:solidFill>
                  <a:srgbClr val="94A3B8"/>
                </a:solidFill>
              </a:defRPr>
            </a:pPr>
            <a:r>
              <a:t>Concepts, Architectures, Toolchains, Real-world Applications, and Enterprise 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5669280"/>
            <a:ext cx="9144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Presented for Advanced MLOps &amp; Production AI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INTRODUCTION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Executive Summary: Why LLMOps?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Traditional ML vs. LLMs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Traditional ML relies on tabular/structured data, explicit statistical modeling, and predictable API payloads. LLMs introduce probabilistic outputs, massive token context windows, high compute overhead, and unstructured text complexities.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The LLMOps Imperative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Moving from notebook proof-of-concept (PoC) to secure enterprise production requires rigorous lifecycle management, automated evaluations, prompt version control, real-time guardrails, and cost optimization.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spcAft>
                <a:spcPts val="1200"/>
              </a:spcAft>
              <a:defRPr sz="1800" b="1">
                <a:solidFill>
                  <a:srgbClr val="2563EB"/>
                </a:solidFill>
              </a:defRPr>
            </a:pPr>
            <a:r>
              <a:t>Core Pillars</a:t>
            </a:r>
          </a:p>
          <a:p>
            <a:pPr>
              <a:spcBef>
                <a:spcPts val="400"/>
              </a:spcBef>
              <a:defRPr sz="1400">
                <a:solidFill>
                  <a:srgbClr val="1E293B"/>
                </a:solidFill>
              </a:defRPr>
            </a:pPr>
            <a:r>
              <a:t>1. Prompt &amp; Knowledge Engineering (RAG)</a:t>
            </a:r>
            <a:br/>
            <a:r>
              <a:t>2. Rigorous Evaluation &amp; Benchmarking</a:t>
            </a:r>
            <a:br/>
            <a:r>
              <a:t>3. Observability &amp; Guardrails</a:t>
            </a:r>
            <a:br/>
            <a:r>
              <a:t>4. Cost &amp; Latency Governance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CONCEPTUAL FRAMEWORK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Core Concept: The LLMOps Lifecycle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1. Data &amp; RAG Prep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Corpus ingestion, OCR, intelligent chunking, vector embedding generation, and hybrid index storage (e.g., Qdrant, Milvus).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2. Prompt &amp; Fine-Tuning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Prompt engineering, versioning, few-shot management, PEFT/LoRA fine-tuning for domain-specific alignment.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3. Deployment &amp; Scaling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Optimized inference engines (vLLM, TGI, Triton), GPU cluster orchestration, autoscaling, and endpoint security.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4. Monitor &amp; Evaluate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Continuous evaluation (Ragas, TruLens), hallucination checks, safety guardrails, cost/latency tracking, and feedback loops.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Architecture &amp; Workflow: Enterprise RAG System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Ingestion Pipeline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Raw Docs (PDF/HTML/DB) ➔ OCR &amp; Parsing ➔ Semantic Chunking ➔ Embedding Models (OpenAI/HuggingFace) ➔ Vector DB (Qdrant).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83464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Retrieval &amp; Reranking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User Query ➔ Query Expansion ➔ Hybrid Search (Dense + BM25) ➔ Cross-Encoder Reranking ➔ Top-K Context Selection.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02336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Generation &amp; Guardrails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Retrieved Context + Prompt Template ➔ LLM Inference (vLLM/GPT-4) ➔ Output Guardrails (PII/Toxic check) ➔ Final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212080"/>
            <a:ext cx="106984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137160"/>
          <a:lstStyle/>
          <a:p>
            <a:pPr algn="ctr">
              <a:spcAft>
                <a:spcPts val="300"/>
              </a:spcAft>
              <a:defRPr sz="1500" b="1">
                <a:solidFill>
                  <a:srgbClr val="2563EB"/>
                </a:solidFill>
              </a:defRPr>
            </a:pPr>
            <a:r>
              <a:t>Observability &amp; Telemetry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Real-time Logging ➔ Evaluation Metrics (Faithfulness, Answer Relevance) ➔ Telemetry Dashboards &amp; Audit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TOOLS &amp; ECOSYSTEM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The Enterprise LLMOps Toolchain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Vector Databases &amp; Storage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06240" y="164592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Qdrant, Milvus, Pinecone, Chroma, FAISS, PostgreSQL + pgvector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Orchestration &amp; Frameworks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260604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LangChain, LlamaIndex, Semantic Kernel, Haystack, AutoGen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6616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Inference &amp; Serving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356616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vLLM, Triton Inference Server, TGI (Text Generation Inference), Ollama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52628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Evaluation &amp; Observability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452628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Ragas, TruLens, Arize Phoenix, LangSmith, Weights &amp; Biases (W&amp;B)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3291840" cy="822960"/>
          </a:xfrm>
          <a:prstGeom prst="round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2286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Guardrails &amp; Security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5486400"/>
            <a:ext cx="722376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defRPr sz="1400">
                <a:solidFill>
                  <a:srgbClr val="1E293B"/>
                </a:solidFill>
              </a:defRPr>
            </a:pPr>
            <a:r>
              <a:t>NeMo Guardrails, Llama Guard, Rebuff, PromptArmor, Microsoft Presidio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USE CASES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Real-World Applications &amp; Enterprise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Enterprise Knowledge Assistant (RAG)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Automating internal HR, IT, and legal document search across 100k+ enterprise pages with precise source attribution and reduced hallucination risk.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Automated Customer Support Agents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Multi-turn conversational agents integrated with CRM databases and ticketing APIs to resolve tier-1 customer inquiries instantly with guardrails.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Legal &amp; Compliance Contract Analysis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Extracting clauses, comparing contract variations against regulatory compliance frameworks, and flagging risky legal terminology automatically.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2563EB"/>
                </a:solidFill>
              </a:defRPr>
            </a:pPr>
            <a:r>
              <a:t>Financial Report &amp; Earnings Intelligence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Ingesting quarterly SEC filings and earnings call transcripts to generate summarized insights, sentiment analysis, and comparative financial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2563EB"/>
                </a:solidFill>
              </a:defRPr>
            </a:pPr>
            <a:r>
              <a:t>RISK MANAGEMENT</a:t>
            </a:r>
          </a:p>
          <a:p>
            <a:pPr>
              <a:defRPr sz="2800" b="1">
                <a:solidFill>
                  <a:srgbClr val="1E293B"/>
                </a:solidFill>
              </a:defRPr>
            </a:pPr>
            <a:r>
              <a:t>Challenges &amp; Production Pitfalls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Hallucinations &amp; Groundedness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LLMs fabricating plausible-sounding falsehoods when retrieved context is insufficient or ambiguous. Requires rigorous Ragas semantic evaluation.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Cost &amp; Latency Spikes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High token usage, context window bloat, and GPU inference bottlenecks leading to expensive API bills and poor user experience.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Security &amp; PII Leakage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Vulnerability to prompt injection attacks, jailbreaks, and accidental leakage of sensitive customer Personally Identifiable Information (PII).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800"/>
              </a:spcAft>
              <a:defRPr sz="1600" b="1">
                <a:solidFill>
                  <a:srgbClr val="DC2626"/>
                </a:solidFill>
              </a:defRPr>
            </a:pPr>
            <a:r>
              <a:t>Non-Deterministic Drift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Model updates by providers (e.g., GPT-4 version updates) or changing user behavior causing silent regressions in application performance.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EA5E9"/>
                </a:solidFill>
              </a:defRPr>
            </a:pPr>
            <a:r>
              <a:t>CONCLUSION &amp; FUTURE OUTLOOK</a:t>
            </a:r>
          </a:p>
          <a:p>
            <a:pPr>
              <a:spcAft>
                <a:spcPts val="2000"/>
              </a:spcAft>
              <a:defRPr sz="3200" b="1">
                <a:solidFill>
                  <a:srgbClr val="F1F5F9"/>
                </a:solidFill>
              </a:defRPr>
            </a:pPr>
            <a:r>
              <a:t>The Evolution of Production AI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</a:defRPr>
            </a:pPr>
            <a:r>
              <a:t>• From Experiments to Systems: LLMOps transforms experimental prompt engineering into robust, reliable enterprise software engineering.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</a:defRPr>
            </a:pPr>
            <a:r>
              <a:t>• Continuous Evaluation &amp; Observability: Success in production demands automated semantic testing, real-time guardrails, and continuous quality gates.</a:t>
            </a:r>
          </a:p>
          <a:p>
            <a:pPr>
              <a:spcAft>
                <a:spcPts val="1200"/>
              </a:spcAft>
              <a:defRPr sz="1600">
                <a:solidFill>
                  <a:srgbClr val="CBD5E1"/>
                </a:solidFill>
              </a:defRPr>
            </a:pPr>
            <a:r>
              <a:t>• The Road Ahead: Integration of agentic workflows, multi-modal systems, and edge-optimized small language models (SLMs) will define the next frontier of MLOps.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